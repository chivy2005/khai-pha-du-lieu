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2.svg" ContentType="image/svg+xml"/>
  <Override PartName="/ppt/media/image4.svg" ContentType="image/svg+xml"/>
  <Override PartName="/ppt/media/image6.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8288000" cy="10287000"/>
  <p:notesSz cx="6858000" cy="9144000"/>
  <p:embeddedFontLst>
    <p:embeddedFont>
      <p:font typeface="Josefin Sans" panose="00000500000000000000"/>
      <p:regular r:id="rId36"/>
    </p:embeddedFont>
    <p:embeddedFont>
      <p:font typeface="Josefin Sans Semi-Bold" panose="00000700000000000000"/>
      <p:bold r:id="rId37"/>
    </p:embeddedFont>
    <p:embeddedFont>
      <p:font typeface="Josefin Sans Bold" panose="00000800000000000000"/>
      <p:bold r:id="rId38"/>
    </p:embeddedFont>
    <p:embeddedFont>
      <p:font typeface="Calibri" panose="020F050202020403020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font" Target="fonts/font7.fntdata"/><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slide" Target="slides/slide2.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6.sv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6.sv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6.sv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6.sv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6.svg"/><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oleObject" Target="../embeddings/oleObject1.bin"/><Relationship Id="rId2" Type="http://schemas.openxmlformats.org/officeDocument/2006/relationships/image" Target="../media/image4.svg"/><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4.svg"/><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sv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6.svg"/><Relationship Id="rId1"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svg"/><Relationship Id="rId1"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a:off x="-3929813" y="-3138942"/>
            <a:ext cx="17158524" cy="17158524"/>
          </a:xfrm>
          <a:custGeom>
            <a:avLst/>
            <a:gdLst/>
            <a:ahLst/>
            <a:cxnLst/>
            <a:rect l="l" t="t" r="r" b="b"/>
            <a:pathLst>
              <a:path w="17158524" h="17158524">
                <a:moveTo>
                  <a:pt x="0" y="0"/>
                </a:moveTo>
                <a:lnTo>
                  <a:pt x="17158525" y="0"/>
                </a:lnTo>
                <a:lnTo>
                  <a:pt x="17158525" y="17158524"/>
                </a:lnTo>
                <a:lnTo>
                  <a:pt x="0" y="1715852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13219187" y="2609093"/>
            <a:ext cx="5068813" cy="5068813"/>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solidFill>
          </p:spPr>
        </p:sp>
      </p:grpSp>
      <p:sp>
        <p:nvSpPr>
          <p:cNvPr id="5" name="TextBox 5"/>
          <p:cNvSpPr txBox="1"/>
          <p:nvPr/>
        </p:nvSpPr>
        <p:spPr>
          <a:xfrm>
            <a:off x="1603244" y="1405235"/>
            <a:ext cx="8734722" cy="7352705"/>
          </a:xfrm>
          <a:prstGeom prst="rect">
            <a:avLst/>
          </a:prstGeom>
        </p:spPr>
        <p:txBody>
          <a:bodyPr lIns="0" tIns="0" rIns="0" bIns="0" rtlCol="0" anchor="t">
            <a:spAutoFit/>
          </a:bodyPr>
          <a:lstStyle/>
          <a:p>
            <a:pPr algn="l">
              <a:lnSpc>
                <a:spcPts val="14525"/>
              </a:lnSpc>
            </a:pPr>
            <a:r>
              <a:rPr lang="en-US" sz="11170">
                <a:solidFill>
                  <a:srgbClr val="FFFFFF"/>
                </a:solidFill>
                <a:latin typeface="Josefin Sans" panose="00000500000000000000"/>
                <a:ea typeface="Josefin Sans" panose="00000500000000000000"/>
                <a:cs typeface="Josefin Sans" panose="00000500000000000000"/>
                <a:sym typeface="Josefin Sans" panose="00000500000000000000"/>
              </a:rPr>
              <a:t>BÁO CÁO PHÂN TÍCH TIỂU ĐƯỜNG</a:t>
            </a:r>
            <a:endParaRPr lang="en-US" sz="1117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6" name="TextBox 6"/>
          <p:cNvSpPr txBox="1"/>
          <p:nvPr/>
        </p:nvSpPr>
        <p:spPr>
          <a:xfrm>
            <a:off x="14032455" y="4710684"/>
            <a:ext cx="3413701" cy="837057"/>
          </a:xfrm>
          <a:prstGeom prst="rect">
            <a:avLst/>
          </a:prstGeom>
        </p:spPr>
        <p:txBody>
          <a:bodyPr lIns="0" tIns="0" rIns="0" bIns="0" rtlCol="0" anchor="t">
            <a:spAutoFit/>
          </a:bodyPr>
          <a:lstStyle/>
          <a:p>
            <a:pPr algn="ctr">
              <a:lnSpc>
                <a:spcPts val="3355"/>
              </a:lnSpc>
            </a:pPr>
            <a:r>
              <a:rPr lang="en-US" sz="2600">
                <a:solidFill>
                  <a:srgbClr val="D83A3A"/>
                </a:solidFill>
                <a:latin typeface="Josefin Sans" panose="00000500000000000000"/>
                <a:ea typeface="Josefin Sans" panose="00000500000000000000"/>
                <a:cs typeface="Josefin Sans" panose="00000500000000000000"/>
                <a:sym typeface="Josefin Sans" panose="00000500000000000000"/>
              </a:rPr>
              <a:t>TRẦN CHÍ VỸ - 321358065</a:t>
            </a:r>
            <a:endParaRPr lang="en-US" sz="2600">
              <a:solidFill>
                <a:srgbClr val="D83A3A"/>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34812" y="5133975"/>
            <a:ext cx="19535305" cy="0"/>
          </a:xfrm>
          <a:prstGeom prst="line">
            <a:avLst/>
          </a:prstGeom>
          <a:ln w="19050" cap="rnd">
            <a:solidFill>
              <a:srgbClr val="D6D6D6"/>
            </a:solidFill>
            <a:prstDash val="solid"/>
            <a:headEnd type="none" w="sm" len="sm"/>
            <a:tailEnd type="none" w="sm" len="sm"/>
          </a:ln>
        </p:spPr>
      </p:sp>
      <p:sp>
        <p:nvSpPr>
          <p:cNvPr id="3" name="Freeform 3"/>
          <p:cNvSpPr/>
          <p:nvPr/>
        </p:nvSpPr>
        <p:spPr>
          <a:xfrm rot="5400000">
            <a:off x="14767324"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028700" y="1925321"/>
            <a:ext cx="10386586" cy="1113790"/>
          </a:xfrm>
          <a:prstGeom prst="rect">
            <a:avLst/>
          </a:prstGeom>
        </p:spPr>
        <p:txBody>
          <a:bodyPr lIns="0" tIns="0" rIns="0" bIns="0" rtlCol="0" anchor="t">
            <a:spAutoFit/>
          </a:bodyPr>
          <a:lstStyle/>
          <a:p>
            <a:pPr marL="0" lvl="0" indent="0" algn="l">
              <a:lnSpc>
                <a:spcPts val="8960"/>
              </a:lnSpc>
              <a:spcBef>
                <a:spcPct val="0"/>
              </a:spcBef>
            </a:pPr>
            <a:r>
              <a:rPr lang="en-US" sz="6400">
                <a:solidFill>
                  <a:srgbClr val="000000"/>
                </a:solidFill>
                <a:latin typeface="Josefin Sans" panose="00000500000000000000"/>
                <a:ea typeface="Josefin Sans" panose="00000500000000000000"/>
                <a:cs typeface="Josefin Sans" panose="00000500000000000000"/>
                <a:sym typeface="Josefin Sans" panose="00000500000000000000"/>
              </a:rPr>
              <a:t>Định nghĩa vấn đề</a:t>
            </a:r>
            <a:endParaRPr lang="en-US" sz="6400">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5" name="TextBox 5"/>
          <p:cNvSpPr txBox="1"/>
          <p:nvPr/>
        </p:nvSpPr>
        <p:spPr>
          <a:xfrm>
            <a:off x="1028700" y="6728322"/>
            <a:ext cx="10386586" cy="1682115"/>
          </a:xfrm>
          <a:prstGeom prst="rect">
            <a:avLst/>
          </a:prstGeom>
        </p:spPr>
        <p:txBody>
          <a:bodyPr lIns="0" tIns="0" rIns="0" bIns="0" rtlCol="0" anchor="t">
            <a:spAutoFit/>
          </a:bodyPr>
          <a:lstStyle/>
          <a:p>
            <a:pPr algn="l">
              <a:lnSpc>
                <a:spcPts val="3360"/>
              </a:lnSpc>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gồm dữ liệu vào và kết quả với kết quả là:</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algn="l">
              <a:lnSpc>
                <a:spcPts val="3360"/>
              </a:lnSpc>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  0: Không mắc tiểu đường</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algn="l">
              <a:lnSpc>
                <a:spcPts val="3360"/>
              </a:lnSpc>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  1: Mắc tiểu đường</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0" lvl="0" indent="0" algn="l">
              <a:lnSpc>
                <a:spcPts val="3360"/>
              </a:lnSpc>
              <a:spcBef>
                <a:spcPct val="0"/>
              </a:spcBef>
            </a:pPr>
          </a:p>
        </p:txBody>
      </p:sp>
      <p:sp>
        <p:nvSpPr>
          <p:cNvPr id="6" name="TextBox 6"/>
          <p:cNvSpPr txBox="1"/>
          <p:nvPr/>
        </p:nvSpPr>
        <p:spPr>
          <a:xfrm>
            <a:off x="1028700" y="3001011"/>
            <a:ext cx="8657553" cy="2101215"/>
          </a:xfrm>
          <a:prstGeom prst="rect">
            <a:avLst/>
          </a:prstGeom>
        </p:spPr>
        <p:txBody>
          <a:bodyPr lIns="0" tIns="0" rIns="0" bIns="0" rtlCol="0" anchor="t">
            <a:spAutoFit/>
          </a:bodyPr>
          <a:lstStyle/>
          <a:p>
            <a:pPr algn="l">
              <a:lnSpc>
                <a:spcPts val="2835"/>
              </a:lnSpc>
              <a:spcBef>
                <a:spcPct val="0"/>
              </a:spcBef>
            </a:pP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 Bệnh đá</a:t>
            </a: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i tháo đường (tiểu đường) là một trong những bệnh mạn tính phổ biến và gây nhiều biến chứng nguy hiểm. Bộ dữ liệu Pima Indians Diabetes Database (PID) được sử dụng để xây dựng mô hình dự đoán khả năng mắc bệnh tiểu đường dựa trên các đặc điểm lâm sàng và nhân khẩu học.</a:t>
            </a:r>
            <a:endParaRPr lang="en-US" sz="2025">
              <a:solidFill>
                <a:srgbClr val="000000"/>
              </a:solidFill>
              <a:latin typeface="Josefin Sans" panose="00000500000000000000"/>
              <a:ea typeface="Josefin Sans" panose="00000500000000000000"/>
              <a:cs typeface="Josefin Sans" panose="00000500000000000000"/>
              <a:sym typeface="Josefin Sans" panose="00000500000000000000"/>
            </a:endParaRPr>
          </a:p>
          <a:p>
            <a:pPr algn="l">
              <a:lnSpc>
                <a:spcPts val="2835"/>
              </a:lnSpc>
              <a:spcBef>
                <a:spcPct val="0"/>
              </a:spcBef>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a:off x="1730742" y="-2269758"/>
            <a:ext cx="14826517" cy="14826517"/>
          </a:xfrm>
          <a:custGeom>
            <a:avLst/>
            <a:gdLst/>
            <a:ahLst/>
            <a:cxnLst/>
            <a:rect l="l" t="t" r="r" b="b"/>
            <a:pathLst>
              <a:path w="14826517" h="14826517">
                <a:moveTo>
                  <a:pt x="0" y="0"/>
                </a:moveTo>
                <a:lnTo>
                  <a:pt x="14826516" y="0"/>
                </a:lnTo>
                <a:lnTo>
                  <a:pt x="14826516" y="14826516"/>
                </a:lnTo>
                <a:lnTo>
                  <a:pt x="0" y="14826516"/>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012328" y="332833"/>
            <a:ext cx="10263345" cy="1005205"/>
          </a:xfrm>
          <a:prstGeom prst="rect">
            <a:avLst/>
          </a:prstGeom>
        </p:spPr>
        <p:txBody>
          <a:bodyPr lIns="0" tIns="0" rIns="0" bIns="0" rtlCol="0" anchor="t">
            <a:spAutoFit/>
          </a:bodyPr>
          <a:lstStyle/>
          <a:p>
            <a:pPr marL="0" lvl="0" indent="0" algn="ctr">
              <a:lnSpc>
                <a:spcPts val="8120"/>
              </a:lnSpc>
              <a:spcBef>
                <a:spcPct val="0"/>
              </a:spcBef>
            </a:pPr>
            <a:r>
              <a:rPr lang="en-US" sz="5800">
                <a:solidFill>
                  <a:srgbClr val="FFFFFF"/>
                </a:solidFill>
                <a:latin typeface="Josefin Sans" panose="00000500000000000000"/>
                <a:ea typeface="Josefin Sans" panose="00000500000000000000"/>
                <a:cs typeface="Josefin Sans" panose="00000500000000000000"/>
                <a:sym typeface="Josefin Sans" panose="00000500000000000000"/>
              </a:rPr>
              <a:t>Các bước thực hiện</a:t>
            </a:r>
            <a:endParaRPr lang="en-US" sz="58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6198632" y="3773488"/>
            <a:ext cx="5890736" cy="2635250"/>
          </a:xfrm>
          <a:prstGeom prst="rect">
            <a:avLst/>
          </a:prstGeom>
        </p:spPr>
        <p:txBody>
          <a:bodyPr lIns="0" tIns="0" rIns="0" bIns="0" rtlCol="0" anchor="t">
            <a:spAutoFit/>
          </a:bodyPr>
          <a:lstStyle/>
          <a:p>
            <a:pPr marL="1079500" lvl="1" indent="-539750" algn="ctr">
              <a:lnSpc>
                <a:spcPts val="7000"/>
              </a:lnSpc>
              <a:buAutoNum type="arabicPeriod"/>
            </a:pPr>
            <a:r>
              <a:rPr lang="en-US" sz="5000">
                <a:solidFill>
                  <a:srgbClr val="FFFFFF"/>
                </a:solidFill>
                <a:latin typeface="Josefin Sans" panose="00000500000000000000"/>
                <a:ea typeface="Josefin Sans" panose="00000500000000000000"/>
                <a:cs typeface="Josefin Sans" panose="00000500000000000000"/>
                <a:sym typeface="Josefin Sans" panose="00000500000000000000"/>
              </a:rPr>
              <a:t>Chuẩn bị vấn đề</a:t>
            </a:r>
            <a:endParaRPr lang="en-US" sz="5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079500" lvl="1" indent="-539750" algn="ctr">
              <a:lnSpc>
                <a:spcPts val="7000"/>
              </a:lnSpc>
              <a:buAutoNum type="arabicPeriod"/>
            </a:pPr>
            <a:r>
              <a:rPr lang="en-US" sz="5000">
                <a:solidFill>
                  <a:srgbClr val="FFFFFF"/>
                </a:solidFill>
                <a:latin typeface="Josefin Sans" panose="00000500000000000000"/>
                <a:ea typeface="Josefin Sans" panose="00000500000000000000"/>
                <a:cs typeface="Josefin Sans" panose="00000500000000000000"/>
                <a:sym typeface="Josefin Sans" panose="00000500000000000000"/>
              </a:rPr>
              <a:t>Phân tích dữ liệu</a:t>
            </a:r>
            <a:endParaRPr lang="en-US" sz="5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079500" lvl="1" indent="-539750" algn="ctr">
              <a:lnSpc>
                <a:spcPts val="7000"/>
              </a:lnSpc>
              <a:buAutoNum type="arabicPeriod"/>
            </a:pPr>
            <a:r>
              <a:rPr lang="en-US" sz="5000">
                <a:solidFill>
                  <a:srgbClr val="FFFFFF"/>
                </a:solidFill>
                <a:latin typeface="Josefin Sans" panose="00000500000000000000"/>
                <a:ea typeface="Josefin Sans" panose="00000500000000000000"/>
                <a:cs typeface="Josefin Sans" panose="00000500000000000000"/>
                <a:sym typeface="Josefin Sans" panose="00000500000000000000"/>
              </a:rPr>
              <a:t>Chuẩn bị dữ liệu</a:t>
            </a:r>
            <a:endParaRPr lang="en-US" sz="5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8733401" y="-1527534"/>
            <a:ext cx="13342069" cy="1334206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83A3A"/>
            </a:solidFill>
          </p:spPr>
        </p:sp>
      </p:grpSp>
      <p:sp>
        <p:nvSpPr>
          <p:cNvPr id="4" name="TextBox 4"/>
          <p:cNvSpPr txBox="1"/>
          <p:nvPr/>
        </p:nvSpPr>
        <p:spPr>
          <a:xfrm>
            <a:off x="9647410" y="3930651"/>
            <a:ext cx="7455525" cy="914400"/>
          </a:xfrm>
          <a:prstGeom prst="rect">
            <a:avLst/>
          </a:prstGeom>
        </p:spPr>
        <p:txBody>
          <a:bodyPr lIns="0" tIns="0" rIns="0" bIns="0" rtlCol="0" anchor="t">
            <a:spAutoFit/>
          </a:bodyPr>
          <a:lstStyle/>
          <a:p>
            <a:pPr algn="r">
              <a:lnSpc>
                <a:spcPts val="7200"/>
              </a:lnSpc>
            </a:pPr>
            <a:r>
              <a:rPr lang="en-US" sz="6000">
                <a:solidFill>
                  <a:srgbClr val="FFFFFF"/>
                </a:solidFill>
                <a:latin typeface="Josefin Sans" panose="00000500000000000000"/>
                <a:ea typeface="Josefin Sans" panose="00000500000000000000"/>
                <a:cs typeface="Josefin Sans" panose="00000500000000000000"/>
                <a:sym typeface="Josefin Sans" panose="00000500000000000000"/>
              </a:rPr>
              <a:t>1/Chuẩn bị vấn đề</a:t>
            </a:r>
            <a:endParaRPr lang="en-US" sz="6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03877" y="4693285"/>
            <a:ext cx="5764400"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Ý chính</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3" name="AutoShape 3"/>
          <p:cNvSpPr/>
          <p:nvPr/>
        </p:nvSpPr>
        <p:spPr>
          <a:xfrm rot="-5400000">
            <a:off x="4010025" y="5133975"/>
            <a:ext cx="10287000" cy="0"/>
          </a:xfrm>
          <a:prstGeom prst="line">
            <a:avLst/>
          </a:prstGeom>
          <a:ln w="19050" cap="rnd">
            <a:solidFill>
              <a:srgbClr val="D6D6D6"/>
            </a:solidFill>
            <a:prstDash val="solid"/>
            <a:headEnd type="none" w="sm" len="sm"/>
            <a:tailEnd type="none" w="sm" len="sm"/>
          </a:ln>
        </p:spPr>
      </p:sp>
      <p:sp>
        <p:nvSpPr>
          <p:cNvPr id="4" name="Freeform 4"/>
          <p:cNvSpPr/>
          <p:nvPr/>
        </p:nvSpPr>
        <p:spPr>
          <a:xfrm rot="-5400000">
            <a:off x="8941419" y="3133457"/>
            <a:ext cx="886522" cy="443261"/>
          </a:xfrm>
          <a:custGeom>
            <a:avLst/>
            <a:gdLst/>
            <a:ahLst/>
            <a:cxnLst/>
            <a:rect l="l" t="t" r="r" b="b"/>
            <a:pathLst>
              <a:path w="886522" h="443261">
                <a:moveTo>
                  <a:pt x="0" y="0"/>
                </a:moveTo>
                <a:lnTo>
                  <a:pt x="886523" y="0"/>
                </a:lnTo>
                <a:lnTo>
                  <a:pt x="886523" y="443261"/>
                </a:lnTo>
                <a:lnTo>
                  <a:pt x="0" y="443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0526213" y="3446347"/>
            <a:ext cx="6733087" cy="339090"/>
          </a:xfrm>
          <a:prstGeom prst="rect">
            <a:avLst/>
          </a:prstGeom>
        </p:spPr>
        <p:txBody>
          <a:bodyPr lIns="0" tIns="0" rIns="0" bIns="0" rtlCol="0" anchor="t">
            <a:spAutoFit/>
          </a:bodyPr>
          <a:lstStyle/>
          <a:p>
            <a:pPr marL="0" lvl="0" indent="0" algn="l">
              <a:lnSpc>
                <a:spcPts val="2835"/>
              </a:lnSpc>
              <a:spcBef>
                <a:spcPct val="0"/>
              </a:spcBef>
            </a:pP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các thư viện cần thiết</a:t>
            </a:r>
            <a:endParaRPr lang="en-US" sz="202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6" name="TextBox 6"/>
          <p:cNvSpPr txBox="1"/>
          <p:nvPr/>
        </p:nvSpPr>
        <p:spPr>
          <a:xfrm>
            <a:off x="10526213" y="2839278"/>
            <a:ext cx="6733087" cy="424815"/>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rPr>
              <a:t>KHAI BÁO THƯ VIỆN</a:t>
            </a:r>
            <a:endPar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endParaRPr>
          </a:p>
        </p:txBody>
      </p:sp>
      <p:sp>
        <p:nvSpPr>
          <p:cNvPr id="7" name="TextBox 7"/>
          <p:cNvSpPr txBox="1"/>
          <p:nvPr/>
        </p:nvSpPr>
        <p:spPr>
          <a:xfrm>
            <a:off x="10526213" y="6322291"/>
            <a:ext cx="6733087" cy="339090"/>
          </a:xfrm>
          <a:prstGeom prst="rect">
            <a:avLst/>
          </a:prstGeom>
        </p:spPr>
        <p:txBody>
          <a:bodyPr lIns="0" tIns="0" rIns="0" bIns="0" rtlCol="0" anchor="t">
            <a:spAutoFit/>
          </a:bodyPr>
          <a:lstStyle/>
          <a:p>
            <a:pPr marL="0" lvl="0" indent="0" algn="l">
              <a:lnSpc>
                <a:spcPts val="2835"/>
              </a:lnSpc>
              <a:spcBef>
                <a:spcPct val="0"/>
              </a:spcBef>
            </a:pP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đọc file theo đường dẫn</a:t>
            </a:r>
            <a:endParaRPr lang="en-US" sz="202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8" name="TextBox 8"/>
          <p:cNvSpPr txBox="1"/>
          <p:nvPr/>
        </p:nvSpPr>
        <p:spPr>
          <a:xfrm>
            <a:off x="10526213" y="5715221"/>
            <a:ext cx="6733087" cy="424815"/>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rPr>
              <a:t>NẠP DỮ LIỆU</a:t>
            </a:r>
            <a:endPar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endParaRPr>
          </a:p>
        </p:txBody>
      </p:sp>
      <p:sp>
        <p:nvSpPr>
          <p:cNvPr id="9" name="Freeform 9"/>
          <p:cNvSpPr/>
          <p:nvPr/>
        </p:nvSpPr>
        <p:spPr>
          <a:xfrm rot="-5400000">
            <a:off x="8941419" y="6006226"/>
            <a:ext cx="886522" cy="443261"/>
          </a:xfrm>
          <a:custGeom>
            <a:avLst/>
            <a:gdLst/>
            <a:ahLst/>
            <a:cxnLst/>
            <a:rect l="l" t="t" r="r" b="b"/>
            <a:pathLst>
              <a:path w="886522" h="443261">
                <a:moveTo>
                  <a:pt x="0" y="0"/>
                </a:moveTo>
                <a:lnTo>
                  <a:pt x="886523" y="0"/>
                </a:lnTo>
                <a:lnTo>
                  <a:pt x="886523" y="443261"/>
                </a:lnTo>
                <a:lnTo>
                  <a:pt x="0" y="443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8733401" y="-1527534"/>
            <a:ext cx="13342069" cy="1334206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83A3A"/>
            </a:solidFill>
          </p:spPr>
        </p:sp>
      </p:grpSp>
      <p:sp>
        <p:nvSpPr>
          <p:cNvPr id="4" name="TextBox 4"/>
          <p:cNvSpPr txBox="1"/>
          <p:nvPr/>
        </p:nvSpPr>
        <p:spPr>
          <a:xfrm>
            <a:off x="9647410" y="3930651"/>
            <a:ext cx="7455525" cy="914400"/>
          </a:xfrm>
          <a:prstGeom prst="rect">
            <a:avLst/>
          </a:prstGeom>
        </p:spPr>
        <p:txBody>
          <a:bodyPr lIns="0" tIns="0" rIns="0" bIns="0" rtlCol="0" anchor="t">
            <a:spAutoFit/>
          </a:bodyPr>
          <a:lstStyle/>
          <a:p>
            <a:pPr algn="r">
              <a:lnSpc>
                <a:spcPts val="7200"/>
              </a:lnSpc>
            </a:pPr>
            <a:r>
              <a:rPr lang="en-US" sz="6000">
                <a:solidFill>
                  <a:srgbClr val="FFFFFF"/>
                </a:solidFill>
                <a:latin typeface="Josefin Sans" panose="00000500000000000000"/>
                <a:ea typeface="Josefin Sans" panose="00000500000000000000"/>
                <a:cs typeface="Josefin Sans" panose="00000500000000000000"/>
                <a:sym typeface="Josefin Sans" panose="00000500000000000000"/>
              </a:rPr>
              <a:t>2/Phân tích dữ liệu</a:t>
            </a:r>
            <a:endParaRPr lang="en-US" sz="6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917056" y="3210853"/>
            <a:ext cx="5818830" cy="3724275"/>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Hiển thị một số thông tin về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Số dòng, số cột của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Kiểu dữ liệu của từng cột</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5 dòng đầu và 5 dòng cuối của bảng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Thông tin chung về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9511908" y="1381125"/>
            <a:ext cx="8463480" cy="7458075"/>
          </a:xfrm>
          <a:prstGeom prst="rect">
            <a:avLst/>
          </a:prstGeom>
        </p:spPr>
        <p:txBody>
          <a:bodyPr lIns="0" tIns="0" rIns="0" bIns="0" rtlCol="0" anchor="t">
            <a:spAutoFit/>
          </a:bodyPr>
          <a:lstStyle/>
          <a:p>
            <a:pPr algn="just">
              <a:lnSpc>
                <a:spcPts val="4200"/>
              </a:lnSpc>
              <a:spcBef>
                <a:spcPct val="0"/>
              </a:spcBef>
            </a:p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Dữ liệu có 8 thuộc tính đầu vào để phân lớp:Pregnancies,Glucose, BloodPressure, SkinThickness, Insulin, BMI, DiabetesPedigreeFunction, Age</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Các thuộc tính có đơn vị đo khác nhau (không đồng nhất):Ví dụ: Glucose (mg/dL), BloodPressure (mm Hg), BMI (kg/m²), Age (năm), …T</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Tổng số dòng dữ liệu là 768 mẫu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Dữ liệu để hân lớp nằm ở cột Outcome (giá trị nhị phân: 0 = không mắc bệnh, 1 = mắc bệnh)</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just">
              <a:lnSpc>
                <a:spcPts val="4200"/>
              </a:lnSpc>
              <a:spcBef>
                <a:spcPct val="0"/>
              </a:spcBef>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026493" y="2447925"/>
            <a:ext cx="5818830" cy="53244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Kiểm tra tính toàn vẹ</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 của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l">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Dữ liệu có bị trùng lặp không? Hiển thị dòng bị vi phạm.</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l">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Dữ liệu có tồn tại giá trị Null không? Hiển thị dòng bị vi phạm. Dữ liệu có tồn tại giá trị NaN không? Hiển thị dòng bị vi phạm.</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9474322" y="3285197"/>
            <a:ext cx="8463480" cy="1590675"/>
          </a:xfrm>
          <a:prstGeom prst="rect">
            <a:avLst/>
          </a:prstGeom>
        </p:spPr>
        <p:txBody>
          <a:bodyPr lIns="0" tIns="0" rIns="0" bIns="0" rtlCol="0" anchor="t">
            <a:spAutoFit/>
          </a:bodyPr>
          <a:lstStyle/>
          <a:p>
            <a:pPr algn="just">
              <a:lnSpc>
                <a:spcPts val="4200"/>
              </a:lnSpc>
            </a:pPr>
            <a:r>
              <a:rPr lang="en-US" sz="3000" b="1">
                <a:solidFill>
                  <a:srgbClr val="FFFFFF"/>
                </a:solidFill>
                <a:latin typeface="Josefin Sans Bold" panose="00000800000000000000"/>
                <a:ea typeface="Josefin Sans Bold" panose="00000800000000000000"/>
                <a:cs typeface="Josefin Sans Bold" panose="00000800000000000000"/>
                <a:sym typeface="Josefin Sans Bold" panose="00000800000000000000"/>
              </a:rPr>
              <a: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Dữ liệu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ô</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c</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ó</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giá 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r</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ị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rỗ</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NaN</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ull</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just">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ô</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b</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ị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trù</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g</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nh</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ư</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vẫ</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thấy</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c</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ó</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0 </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just">
              <a:lnSpc>
                <a:spcPts val="4200"/>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092155" y="2980397"/>
            <a:ext cx="5818830" cy="37242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Các tính chất thống kê trên dữ liệu số</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l">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Count, Mean, Standard Deviation, Minimum Value</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l">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25th Percentile, 50th Percentile (Median), 75th Percentile, Maximum Value</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9144000" y="695325"/>
            <a:ext cx="8463480" cy="9058275"/>
          </a:xfrm>
          <a:prstGeom prst="rect">
            <a:avLst/>
          </a:prstGeom>
        </p:spPr>
        <p:txBody>
          <a:bodyPr lIns="0" tIns="0" rIns="0" bIns="0" rtlCol="0" anchor="t">
            <a:spAutoFit/>
          </a:bodyPr>
          <a:lstStyle/>
          <a:p>
            <a:pPr algn="just">
              <a:lnSpc>
                <a:spcPts val="4200"/>
              </a:lnSpc>
            </a:p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Bộ d</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ữ liệu có 768 mẫu,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ô</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bị thiếu giá trị (non-null = 768 cho tất cả cột).</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Một số thuộc tính c</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ó</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giá 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r</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ị 0 bất thường:</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Glucose, BloodPressure, SkinThickness, Insulin, BMI → về mặt y học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ô</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thể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bằng 0, đây có thể coi là giá</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trị thiếu (missi</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g</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values).</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Thuộc tính Insulin có độ lệch chuẩn lớn (σ ≈ 115), giá trị max lên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tới 846, cho thấy dữ liệu</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c</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ó</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nhiều ngoại lai (outliers).</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Tuổi (Age) có min = 21 (đúng vì bộ dữ liệu chỉ gồm phụ nữ ≥ 21 tuổi), max = 81.</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Biến mục tiêu Outcome có mean =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0.35 → tức là 34.9% bệnh nhân mắc tiểu đường, còn lại 65.1% không mắc → dữ liệu mất cân bằng nhẹ.</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026493" y="1762125"/>
            <a:ext cx="5818830" cy="74580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Tần số xuất hiện (Distribution) trên dữ liệu phân lớp (Class) và dữ liệ</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u danh mục (Category)</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ctr">
              <a:lnSpc>
                <a:spcPts val="4200"/>
              </a:lnSpc>
            </a:pPr>
          </a:p>
          <a:p>
            <a:pPr marL="647700" lvl="1" indent="-323850" algn="l">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Đối với bài toán phân lớp (classification problem), chúng ta cần tính số lần xuất hiện của thuộc tính phân lớp. Điều này là cần thiết cho vấn đề mất cân bằng (highly imbalanced problems) giữa các lớp nhằm cần xử lý đặc biệt trong bước chuẩn bị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9144000" y="3285197"/>
            <a:ext cx="8463480" cy="2657475"/>
          </a:xfrm>
          <a:prstGeom prst="rect">
            <a:avLst/>
          </a:prstGeom>
        </p:spPr>
        <p:txBody>
          <a:bodyPr lIns="0" tIns="0" rIns="0" bIns="0" rtlCol="0" anchor="t">
            <a:spAutoFit/>
          </a:bodyPr>
          <a:lstStyle/>
          <a:p>
            <a:pPr algn="just">
              <a:lnSpc>
                <a:spcPts val="4200"/>
              </a:lnSpc>
            </a:p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D</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ữ liệu cần phân loại bị hoặc không bị ti</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ể</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u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đườ</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ng </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Các lớp bị mấ</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cân bằng</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xử lý ở phần chu</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ẩ</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bị</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dữ liệu</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829506" y="4505325"/>
            <a:ext cx="5818830" cy="5238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Xử lý dữ liệu mất cân bằng</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8795820" y="1647825"/>
            <a:ext cx="8463480" cy="6924675"/>
          </a:xfrm>
          <a:prstGeom prst="rect">
            <a:avLst/>
          </a:prstGeom>
        </p:spPr>
        <p:txBody>
          <a:bodyPr lIns="0" tIns="0" rIns="0" bIns="0" rtlCol="0" anchor="t">
            <a:spAutoFit/>
          </a:bodyPr>
          <a:lstStyle/>
          <a:p>
            <a:pPr marL="647700" lvl="1" indent="-323850" algn="just">
              <a:lnSpc>
                <a:spcPts val="4200"/>
              </a:lnSpc>
              <a:buFont typeface="Arial" panose="020B0604020202020204"/>
              <a:buChar char="•"/>
            </a:pPr>
            <a:r>
              <a:rPr lang="en-US" sz="3000" b="1">
                <a:solidFill>
                  <a:srgbClr val="FFFFFF"/>
                </a:solidFill>
                <a:latin typeface="Josefin Sans Bold" panose="00000800000000000000"/>
                <a:ea typeface="Josefin Sans Bold" panose="00000800000000000000"/>
                <a:cs typeface="Josefin Sans Bold" panose="00000800000000000000"/>
                <a:sym typeface="Josefin Sans Bold" panose="00000800000000000000"/>
              </a:rPr>
              <a:t> </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Giữ nguyên</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295400" lvl="2" indent="-43180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Với tỷ lệ 65–35 này, nhiều model (Logistic Regression, Random Forest, XGBoost, v.v.) vẫn train ổn.</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295400" lvl="2" indent="-43180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Nhưng khi đánh giá, nên dùng Precision, Recall, F1-score t</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hay</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 vì Accuracy.</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647700" lvl="1" indent="-32385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Cân bằng bằng kỹ thuật Resampling</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295400" lvl="2" indent="-43180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Oversampling lớp thiểu số (Outcome=1) → dùng SMOTE hoặc RandomOversampler.</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295400" lvl="2" indent="-43180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Undersampling lớp đa số (Outcome=0).</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marL="1295400" lvl="2" indent="-431800" algn="just">
              <a:lnSpc>
                <a:spcPts val="4200"/>
              </a:lnSpc>
              <a:buFont typeface="Arial" panose="020B0604020202020204"/>
              <a:buChar char="⚬"/>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K</a:t>
            </a: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ết hợp cả hai (SMOTEENN, SMOTETomek).</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640976" y="1244180"/>
            <a:ext cx="15618324" cy="8297235"/>
          </a:xfrm>
          <a:custGeom>
            <a:avLst/>
            <a:gdLst/>
            <a:ahLst/>
            <a:cxnLst/>
            <a:rect l="l" t="t" r="r" b="b"/>
            <a:pathLst>
              <a:path w="15618324" h="8297235">
                <a:moveTo>
                  <a:pt x="0" y="0"/>
                </a:moveTo>
                <a:lnTo>
                  <a:pt x="15618324" y="0"/>
                </a:lnTo>
                <a:lnTo>
                  <a:pt x="15618324" y="8297235"/>
                </a:lnTo>
                <a:lnTo>
                  <a:pt x="0" y="8297235"/>
                </a:lnTo>
                <a:lnTo>
                  <a:pt x="0" y="0"/>
                </a:lnTo>
                <a:close/>
              </a:path>
            </a:pathLst>
          </a:custGeom>
          <a:blipFill>
            <a:blip r:embed="rId3"/>
            <a:stretch>
              <a:fillRect/>
            </a:stretch>
          </a:blipFill>
        </p:spPr>
      </p:sp>
      <p:sp>
        <p:nvSpPr>
          <p:cNvPr id="4" name="TextBox 4"/>
          <p:cNvSpPr txBox="1"/>
          <p:nvPr/>
        </p:nvSpPr>
        <p:spPr>
          <a:xfrm>
            <a:off x="6013771" y="361312"/>
            <a:ext cx="5818830" cy="5238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Mối tương quan</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4190427" y="1244180"/>
            <a:ext cx="9907146" cy="8297235"/>
          </a:xfrm>
          <a:custGeom>
            <a:avLst/>
            <a:gdLst/>
            <a:ahLst/>
            <a:cxnLst/>
            <a:rect l="l" t="t" r="r" b="b"/>
            <a:pathLst>
              <a:path w="9907146" h="8297235">
                <a:moveTo>
                  <a:pt x="0" y="0"/>
                </a:moveTo>
                <a:lnTo>
                  <a:pt x="9907146" y="0"/>
                </a:lnTo>
                <a:lnTo>
                  <a:pt x="9907146" y="8297235"/>
                </a:lnTo>
                <a:lnTo>
                  <a:pt x="0" y="8297235"/>
                </a:lnTo>
                <a:lnTo>
                  <a:pt x="0" y="0"/>
                </a:lnTo>
                <a:close/>
              </a:path>
            </a:pathLst>
          </a:custGeom>
          <a:blipFill>
            <a:blip r:embed="rId3"/>
            <a:stretch>
              <a:fillRect/>
            </a:stretch>
          </a:blipFill>
        </p:spPr>
      </p:sp>
      <p:sp>
        <p:nvSpPr>
          <p:cNvPr id="4" name="TextBox 4"/>
          <p:cNvSpPr txBox="1"/>
          <p:nvPr/>
        </p:nvSpPr>
        <p:spPr>
          <a:xfrm>
            <a:off x="3827374" y="186905"/>
            <a:ext cx="11245529" cy="10572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Hiển thị trên từng tính chất đơn (Univariate Plots)</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ctr">
              <a:lnSpc>
                <a:spcPts val="4200"/>
              </a:lnSpc>
            </a:p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288226" y="0"/>
            <a:ext cx="10364736" cy="10287000"/>
          </a:xfrm>
          <a:custGeom>
            <a:avLst/>
            <a:gdLst/>
            <a:ahLst/>
            <a:cxnLst/>
            <a:rect l="l" t="t" r="r" b="b"/>
            <a:pathLst>
              <a:path w="10364736" h="10287000">
                <a:moveTo>
                  <a:pt x="0" y="0"/>
                </a:moveTo>
                <a:lnTo>
                  <a:pt x="10364736" y="0"/>
                </a:lnTo>
                <a:lnTo>
                  <a:pt x="10364736" y="10287000"/>
                </a:lnTo>
                <a:lnTo>
                  <a:pt x="0" y="10287000"/>
                </a:lnTo>
                <a:lnTo>
                  <a:pt x="0" y="0"/>
                </a:lnTo>
                <a:close/>
              </a:path>
            </a:pathLst>
          </a:custGeom>
          <a:blipFill>
            <a:blip r:embed="rId3"/>
            <a:stretch>
              <a:fillRect/>
            </a:stretch>
          </a:blipFill>
        </p:spPr>
      </p:sp>
      <p:sp>
        <p:nvSpPr>
          <p:cNvPr id="4" name="TextBox 4"/>
          <p:cNvSpPr txBox="1"/>
          <p:nvPr/>
        </p:nvSpPr>
        <p:spPr>
          <a:xfrm>
            <a:off x="10076510" y="3552825"/>
            <a:ext cx="8071859" cy="1590675"/>
          </a:xfrm>
          <a:prstGeom prst="rect">
            <a:avLst/>
          </a:prstGeom>
        </p:spPr>
        <p:txBody>
          <a:bodyPr lIns="0" tIns="0" rIns="0" bIns="0" rtlCol="0" anchor="t">
            <a:spAutoFit/>
          </a:bodyPr>
          <a:lstStyle/>
          <a:p>
            <a:pPr algn="ctr">
              <a:lnSpc>
                <a:spcPts val="4200"/>
              </a:lnSpc>
            </a:pPr>
            <a:r>
              <a:rPr lang="en-US" sz="3000">
                <a:solidFill>
                  <a:srgbClr val="FFFFFF"/>
                </a:solidFill>
                <a:latin typeface="Josefin Sans" panose="00000500000000000000"/>
                <a:ea typeface="Josefin Sans" panose="00000500000000000000"/>
                <a:cs typeface="Josefin Sans" panose="00000500000000000000"/>
                <a:sym typeface="Josefin Sans" panose="00000500000000000000"/>
              </a:rPr>
              <a:t>Hiển thị trên từng tính chất đơn (Univariate Plots)</a:t>
            </a:r>
            <a:endParaRPr lang="en-US" sz="3000">
              <a:solidFill>
                <a:srgbClr val="FFFFFF"/>
              </a:solidFill>
              <a:latin typeface="Josefin Sans" panose="00000500000000000000"/>
              <a:ea typeface="Josefin Sans" panose="00000500000000000000"/>
              <a:cs typeface="Josefin Sans" panose="00000500000000000000"/>
              <a:sym typeface="Josefin Sans" panose="00000500000000000000"/>
            </a:endParaRPr>
          </a:p>
          <a:p>
            <a:pPr algn="ctr">
              <a:lnSpc>
                <a:spcPts val="4200"/>
              </a:lnSpc>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7065" y="670979"/>
            <a:ext cx="17973870" cy="9616021"/>
          </a:xfrm>
          <a:custGeom>
            <a:avLst/>
            <a:gdLst/>
            <a:ahLst/>
            <a:cxnLst/>
            <a:rect l="l" t="t" r="r" b="b"/>
            <a:pathLst>
              <a:path w="17973870" h="9616021">
                <a:moveTo>
                  <a:pt x="0" y="0"/>
                </a:moveTo>
                <a:lnTo>
                  <a:pt x="17973870" y="0"/>
                </a:lnTo>
                <a:lnTo>
                  <a:pt x="17973870" y="9616021"/>
                </a:lnTo>
                <a:lnTo>
                  <a:pt x="0" y="9616021"/>
                </a:lnTo>
                <a:lnTo>
                  <a:pt x="0" y="0"/>
                </a:lnTo>
                <a:close/>
              </a:path>
            </a:pathLst>
          </a:custGeom>
          <a:blipFill>
            <a:blip r:embed="rId3"/>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03402" y="0"/>
            <a:ext cx="15498305" cy="10287000"/>
          </a:xfrm>
          <a:custGeom>
            <a:avLst/>
            <a:gdLst/>
            <a:ahLst/>
            <a:cxnLst/>
            <a:rect l="l" t="t" r="r" b="b"/>
            <a:pathLst>
              <a:path w="15498305" h="10287000">
                <a:moveTo>
                  <a:pt x="0" y="0"/>
                </a:moveTo>
                <a:lnTo>
                  <a:pt x="15498305" y="0"/>
                </a:lnTo>
                <a:lnTo>
                  <a:pt x="15498305" y="10287000"/>
                </a:lnTo>
                <a:lnTo>
                  <a:pt x="0" y="10287000"/>
                </a:lnTo>
                <a:lnTo>
                  <a:pt x="0" y="0"/>
                </a:lnTo>
                <a:close/>
              </a:path>
            </a:pathLst>
          </a:custGeom>
          <a:blipFill>
            <a:blip r:embed="rId3"/>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920831" y="0"/>
            <a:ext cx="13491148" cy="10287000"/>
          </a:xfrm>
          <a:custGeom>
            <a:avLst/>
            <a:gdLst/>
            <a:ahLst/>
            <a:cxnLst/>
            <a:rect l="l" t="t" r="r" b="b"/>
            <a:pathLst>
              <a:path w="13491148" h="10287000">
                <a:moveTo>
                  <a:pt x="0" y="0"/>
                </a:moveTo>
                <a:lnTo>
                  <a:pt x="13491148" y="0"/>
                </a:lnTo>
                <a:lnTo>
                  <a:pt x="13491148" y="10287000"/>
                </a:lnTo>
                <a:lnTo>
                  <a:pt x="0" y="10287000"/>
                </a:lnTo>
                <a:lnTo>
                  <a:pt x="0" y="0"/>
                </a:lnTo>
                <a:close/>
              </a:path>
            </a:pathLst>
          </a:custGeom>
          <a:blipFill>
            <a:blip r:embed="rId3"/>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3491080" y="0"/>
            <a:ext cx="11305840" cy="10287000"/>
          </a:xfrm>
          <a:custGeom>
            <a:avLst/>
            <a:gdLst/>
            <a:ahLst/>
            <a:cxnLst/>
            <a:rect l="l" t="t" r="r" b="b"/>
            <a:pathLst>
              <a:path w="11305840" h="10287000">
                <a:moveTo>
                  <a:pt x="0" y="0"/>
                </a:moveTo>
                <a:lnTo>
                  <a:pt x="11305840" y="0"/>
                </a:lnTo>
                <a:lnTo>
                  <a:pt x="11305840" y="10287000"/>
                </a:lnTo>
                <a:lnTo>
                  <a:pt x="0" y="10287000"/>
                </a:lnTo>
                <a:lnTo>
                  <a:pt x="0" y="0"/>
                </a:lnTo>
                <a:close/>
              </a:path>
            </a:pathLst>
          </a:custGeom>
          <a:blipFill>
            <a:blip r:embed="rId3"/>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8733401" y="-1527534"/>
            <a:ext cx="13342069" cy="1334206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83A3A"/>
            </a:solidFill>
          </p:spPr>
        </p:sp>
      </p:grpSp>
      <p:sp>
        <p:nvSpPr>
          <p:cNvPr id="4" name="TextBox 4"/>
          <p:cNvSpPr txBox="1"/>
          <p:nvPr/>
        </p:nvSpPr>
        <p:spPr>
          <a:xfrm>
            <a:off x="9647410" y="3930651"/>
            <a:ext cx="7455525" cy="914400"/>
          </a:xfrm>
          <a:prstGeom prst="rect">
            <a:avLst/>
          </a:prstGeom>
        </p:spPr>
        <p:txBody>
          <a:bodyPr lIns="0" tIns="0" rIns="0" bIns="0" rtlCol="0" anchor="t">
            <a:spAutoFit/>
          </a:bodyPr>
          <a:lstStyle/>
          <a:p>
            <a:pPr algn="r">
              <a:lnSpc>
                <a:spcPts val="7200"/>
              </a:lnSpc>
            </a:pPr>
            <a:r>
              <a:rPr lang="en-US" sz="6000">
                <a:solidFill>
                  <a:srgbClr val="FFFFFF"/>
                </a:solidFill>
                <a:latin typeface="Josefin Sans" panose="00000500000000000000"/>
                <a:ea typeface="Josefin Sans" panose="00000500000000000000"/>
                <a:cs typeface="Josefin Sans" panose="00000500000000000000"/>
                <a:sym typeface="Josefin Sans" panose="00000500000000000000"/>
              </a:rPr>
              <a:t>3/Chuẩn bị dữ liệu</a:t>
            </a:r>
            <a:endParaRPr lang="en-US" sz="6000">
              <a:solidFill>
                <a:srgbClr val="FFFFFF"/>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03877" y="4693285"/>
            <a:ext cx="5764400"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Ý chính</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3" name="AutoShape 3"/>
          <p:cNvSpPr/>
          <p:nvPr/>
        </p:nvSpPr>
        <p:spPr>
          <a:xfrm rot="-5400000">
            <a:off x="4010025" y="5133975"/>
            <a:ext cx="10287000" cy="0"/>
          </a:xfrm>
          <a:prstGeom prst="line">
            <a:avLst/>
          </a:prstGeom>
          <a:ln w="19050" cap="rnd">
            <a:solidFill>
              <a:srgbClr val="D6D6D6"/>
            </a:solidFill>
            <a:prstDash val="solid"/>
            <a:headEnd type="none" w="sm" len="sm"/>
            <a:tailEnd type="none" w="sm" len="sm"/>
          </a:ln>
        </p:spPr>
      </p:sp>
      <p:sp>
        <p:nvSpPr>
          <p:cNvPr id="4" name="Freeform 4"/>
          <p:cNvSpPr/>
          <p:nvPr/>
        </p:nvSpPr>
        <p:spPr>
          <a:xfrm rot="-5400000">
            <a:off x="8941419" y="3133457"/>
            <a:ext cx="886522" cy="443261"/>
          </a:xfrm>
          <a:custGeom>
            <a:avLst/>
            <a:gdLst/>
            <a:ahLst/>
            <a:cxnLst/>
            <a:rect l="l" t="t" r="r" b="b"/>
            <a:pathLst>
              <a:path w="886522" h="443261">
                <a:moveTo>
                  <a:pt x="0" y="0"/>
                </a:moveTo>
                <a:lnTo>
                  <a:pt x="886523" y="0"/>
                </a:lnTo>
                <a:lnTo>
                  <a:pt x="886523" y="443261"/>
                </a:lnTo>
                <a:lnTo>
                  <a:pt x="0" y="443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0526213" y="3446347"/>
            <a:ext cx="6733087" cy="339090"/>
          </a:xfrm>
          <a:prstGeom prst="rect">
            <a:avLst/>
          </a:prstGeom>
        </p:spPr>
        <p:txBody>
          <a:bodyPr lIns="0" tIns="0" rIns="0" bIns="0" rtlCol="0" anchor="t">
            <a:spAutoFit/>
          </a:bodyPr>
          <a:lstStyle/>
          <a:p>
            <a:pPr marL="0" lvl="0" indent="0" algn="l">
              <a:lnSpc>
                <a:spcPts val="2835"/>
              </a:lnSpc>
              <a:spcBef>
                <a:spcPct val="0"/>
              </a:spcBef>
            </a:pP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xử lý các giá trị ảnh hưởng tới hiệu suất mô hình</a:t>
            </a:r>
            <a:endParaRPr lang="en-US" sz="202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6" name="TextBox 6"/>
          <p:cNvSpPr txBox="1"/>
          <p:nvPr/>
        </p:nvSpPr>
        <p:spPr>
          <a:xfrm>
            <a:off x="10526213" y="2839278"/>
            <a:ext cx="6733087" cy="424815"/>
          </a:xfrm>
          <a:prstGeom prst="rect">
            <a:avLst/>
          </a:prstGeom>
        </p:spPr>
        <p:txBody>
          <a:bodyPr lIns="0" tIns="0" rIns="0" bIns="0" rtlCol="0" anchor="t">
            <a:spAutoFit/>
          </a:bodyPr>
          <a:lstStyle/>
          <a:p>
            <a:pPr algn="l">
              <a:lnSpc>
                <a:spcPts val="3360"/>
              </a:lnSpc>
            </a:pPr>
            <a:r>
              <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rPr>
              <a:t>LÀM SẠCH DỮ LIỆU (DATA CLEANING)</a:t>
            </a:r>
            <a:endPar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endParaRPr>
          </a:p>
        </p:txBody>
      </p:sp>
      <p:sp>
        <p:nvSpPr>
          <p:cNvPr id="7" name="TextBox 7"/>
          <p:cNvSpPr txBox="1"/>
          <p:nvPr/>
        </p:nvSpPr>
        <p:spPr>
          <a:xfrm>
            <a:off x="10526213" y="6322291"/>
            <a:ext cx="6733087" cy="339090"/>
          </a:xfrm>
          <a:prstGeom prst="rect">
            <a:avLst/>
          </a:prstGeom>
        </p:spPr>
        <p:txBody>
          <a:bodyPr lIns="0" tIns="0" rIns="0" bIns="0" rtlCol="0" anchor="t">
            <a:spAutoFit/>
          </a:bodyPr>
          <a:lstStyle/>
          <a:p>
            <a:pPr marL="0" lvl="0" indent="0" algn="l">
              <a:lnSpc>
                <a:spcPts val="2835"/>
              </a:lnSpc>
              <a:spcBef>
                <a:spcPct val="0"/>
              </a:spcBef>
            </a:pPr>
            <a:r>
              <a:rPr lang="en-US" sz="2025">
                <a:solidFill>
                  <a:srgbClr val="000000"/>
                </a:solidFill>
                <a:latin typeface="Josefin Sans" panose="00000500000000000000"/>
                <a:ea typeface="Josefin Sans" panose="00000500000000000000"/>
                <a:cs typeface="Josefin Sans" panose="00000500000000000000"/>
                <a:sym typeface="Josefin Sans" panose="00000500000000000000"/>
              </a:rPr>
              <a:t>đổi sang dạng cần thiết</a:t>
            </a:r>
            <a:endParaRPr lang="en-US" sz="202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8" name="TextBox 8"/>
          <p:cNvSpPr txBox="1"/>
          <p:nvPr/>
        </p:nvSpPr>
        <p:spPr>
          <a:xfrm>
            <a:off x="10526213" y="5715221"/>
            <a:ext cx="6733087" cy="843915"/>
          </a:xfrm>
          <a:prstGeom prst="rect">
            <a:avLst/>
          </a:prstGeom>
        </p:spPr>
        <p:txBody>
          <a:bodyPr lIns="0" tIns="0" rIns="0" bIns="0" rtlCol="0" anchor="t">
            <a:spAutoFit/>
          </a:bodyPr>
          <a:lstStyle/>
          <a:p>
            <a:pPr algn="l">
              <a:lnSpc>
                <a:spcPts val="3360"/>
              </a:lnSpc>
            </a:pPr>
            <a:r>
              <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rPr>
              <a:t>BIẾN ĐỔI DỮ LIỆU (DATA TRANSFORMS)</a:t>
            </a:r>
            <a:endParaRPr lang="en-US" sz="2400" b="1">
              <a:solidFill>
                <a:srgbClr val="000000"/>
              </a:solidFill>
              <a:latin typeface="Josefin Sans Semi-Bold" panose="00000700000000000000"/>
              <a:ea typeface="Josefin Sans Semi-Bold" panose="00000700000000000000"/>
              <a:cs typeface="Josefin Sans Semi-Bold" panose="00000700000000000000"/>
              <a:sym typeface="Josefin Sans Semi-Bold" panose="00000700000000000000"/>
            </a:endParaRPr>
          </a:p>
          <a:p>
            <a:pPr marL="0" lvl="0" indent="0" algn="l">
              <a:lnSpc>
                <a:spcPts val="3360"/>
              </a:lnSpc>
              <a:spcBef>
                <a:spcPct val="0"/>
              </a:spcBef>
            </a:pPr>
          </a:p>
        </p:txBody>
      </p:sp>
      <p:sp>
        <p:nvSpPr>
          <p:cNvPr id="9" name="Freeform 9"/>
          <p:cNvSpPr/>
          <p:nvPr/>
        </p:nvSpPr>
        <p:spPr>
          <a:xfrm rot="-5400000">
            <a:off x="8941419" y="6006226"/>
            <a:ext cx="886522" cy="443261"/>
          </a:xfrm>
          <a:custGeom>
            <a:avLst/>
            <a:gdLst/>
            <a:ahLst/>
            <a:cxnLst/>
            <a:rect l="l" t="t" r="r" b="b"/>
            <a:pathLst>
              <a:path w="886522" h="443261">
                <a:moveTo>
                  <a:pt x="0" y="0"/>
                </a:moveTo>
                <a:lnTo>
                  <a:pt x="886523" y="0"/>
                </a:lnTo>
                <a:lnTo>
                  <a:pt x="886523" y="443261"/>
                </a:lnTo>
                <a:lnTo>
                  <a:pt x="0" y="44326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982573" y="3256622"/>
            <a:ext cx="8891588" cy="4780714"/>
          </a:xfrm>
          <a:prstGeom prst="rect">
            <a:avLst/>
          </a:prstGeom>
        </p:spPr>
        <p:txBody>
          <a:bodyPr lIns="0" tIns="0" rIns="0" bIns="0" rtlCol="0" anchor="t">
            <a:spAutoFit/>
          </a:bodyPr>
          <a:lstStyle/>
          <a:p>
            <a:pPr algn="just">
              <a:lnSpc>
                <a:spcPts val="6345"/>
              </a:lnSpc>
              <a:spcBef>
                <a:spcPct val="0"/>
              </a:spcBef>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Làm</a:t>
            </a: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 sạch dữ liệu (Data Cleaning)</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T</a:t>
            </a: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ạo bảng mới </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Xóa dữ liệu trùng</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Xử lý giá trị rỗng ko hợp </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algn="just">
              <a:lnSpc>
                <a:spcPts val="6345"/>
              </a:lnSpc>
              <a:spcBef>
                <a:spcPct val="0"/>
              </a:spcBef>
            </a:pPr>
          </a:p>
          <a:p>
            <a:pPr algn="just">
              <a:lnSpc>
                <a:spcPts val="6345"/>
              </a:lnSpc>
              <a:spcBef>
                <a:spcPct val="0"/>
              </a:spcBef>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849300" y="933450"/>
            <a:ext cx="10386586"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Tạ</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o bảng mới</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4849300" y="3053797"/>
            <a:ext cx="10386586" cy="424815"/>
          </a:xfrm>
          <a:prstGeom prst="rect">
            <a:avLst/>
          </a:prstGeom>
        </p:spPr>
        <p:txBody>
          <a:bodyPr lIns="0" tIns="0" rIns="0" bIns="0" rtlCol="0" anchor="t">
            <a:spAutoFit/>
          </a:bodyPr>
          <a:lstStyle/>
          <a:p>
            <a:pPr marL="518160" lvl="1" indent="-259080" algn="l">
              <a:lnSpc>
                <a:spcPts val="3360"/>
              </a:lnSpc>
              <a:spcBef>
                <a:spcPct val="0"/>
              </a:spcBef>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df_c</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lean = df_dataset.copy() - chỉ giữ lại bảng mới</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aphicFrame>
        <p:nvGraphicFramePr>
          <p:cNvPr id="3" name="Object 3"/>
          <p:cNvGraphicFramePr/>
          <p:nvPr/>
        </p:nvGraphicFramePr>
        <p:xfrm>
          <a:off x="4849300" y="4098909"/>
          <a:ext cx="16230600" cy="6492240"/>
        </p:xfrm>
        <a:graphic>
          <a:graphicData uri="http://schemas.openxmlformats.org/presentationml/2006/ole">
            <mc:AlternateContent xmlns:mc="http://schemas.openxmlformats.org/markup-compatibility/2006">
              <mc:Choice xmlns:v="urn:schemas-microsoft-com:vml" Requires="v">
                <p:oleObj spid="_x0000_s4" name="Worksheet" r:id="rId3" imgW="19478625" imgH="9734550" progId="Excel.Sheet.12">
                  <p:embed/>
                </p:oleObj>
              </mc:Choice>
              <mc:Fallback>
                <p:oleObj name="Worksheet" r:id="rId3" imgW="19478625" imgH="9734550" progId="Excel.Sheet.12">
                  <p:embed/>
                  <p:pic>
                    <p:nvPicPr>
                      <p:cNvPr id="0" name="Picture 3"/>
                      <p:cNvPicPr/>
                      <p:nvPr/>
                    </p:nvPicPr>
                    <p:blipFill>
                      <a:blip r:embed="rId4"/>
                      <a:stretch>
                        <a:fillRect/>
                      </a:stretch>
                    </p:blipFill>
                    <p:spPr>
                      <a:xfrm>
                        <a:off x="4849300" y="4098909"/>
                        <a:ext cx="16230600" cy="6492240"/>
                      </a:xfrm>
                      <a:prstGeom prst="rect">
                        <a:avLst/>
                      </a:prstGeom>
                    </p:spPr>
                  </p:pic>
                </p:oleObj>
              </mc:Fallback>
            </mc:AlternateContent>
          </a:graphicData>
        </a:graphic>
      </p:graphicFrame>
      <p:sp>
        <p:nvSpPr>
          <p:cNvPr id="5" name="TextBox 4"/>
          <p:cNvSpPr txBox="1"/>
          <p:nvPr/>
        </p:nvSpPr>
        <p:spPr>
          <a:xfrm>
            <a:off x="4849300" y="933450"/>
            <a:ext cx="10386586"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Xóa</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 dữ liệu trùng</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6" name="TextBox 5"/>
          <p:cNvSpPr txBox="1"/>
          <p:nvPr/>
        </p:nvSpPr>
        <p:spPr>
          <a:xfrm>
            <a:off x="4849300" y="3053797"/>
            <a:ext cx="10386586" cy="126301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df_cle</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an.drop_duplicates(ignore_index=True, inplace=True)</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df_</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clean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0" lvl="0" indent="0" algn="l">
              <a:lnSpc>
                <a:spcPts val="3360"/>
              </a:lnSpc>
              <a:spcBef>
                <a:spcPct val="0"/>
              </a:spcBef>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4849300" y="3879531"/>
            <a:ext cx="6835096" cy="3277580"/>
          </a:xfrm>
          <a:custGeom>
            <a:avLst/>
            <a:gdLst/>
            <a:ahLst/>
            <a:cxnLst/>
            <a:rect l="l" t="t" r="r" b="b"/>
            <a:pathLst>
              <a:path w="6835096" h="3277580">
                <a:moveTo>
                  <a:pt x="0" y="0"/>
                </a:moveTo>
                <a:lnTo>
                  <a:pt x="6835097" y="0"/>
                </a:lnTo>
                <a:lnTo>
                  <a:pt x="6835097" y="3277581"/>
                </a:lnTo>
                <a:lnTo>
                  <a:pt x="0" y="3277581"/>
                </a:lnTo>
                <a:lnTo>
                  <a:pt x="0" y="0"/>
                </a:lnTo>
                <a:close/>
              </a:path>
            </a:pathLst>
          </a:custGeom>
          <a:blipFill>
            <a:blip r:embed="rId3"/>
            <a:stretch>
              <a:fillRect/>
            </a:stretch>
          </a:blipFill>
        </p:spPr>
      </p:sp>
      <p:sp>
        <p:nvSpPr>
          <p:cNvPr id="4" name="Freeform 4"/>
          <p:cNvSpPr/>
          <p:nvPr/>
        </p:nvSpPr>
        <p:spPr>
          <a:xfrm>
            <a:off x="4849300" y="7157112"/>
            <a:ext cx="7484109" cy="3046629"/>
          </a:xfrm>
          <a:custGeom>
            <a:avLst/>
            <a:gdLst/>
            <a:ahLst/>
            <a:cxnLst/>
            <a:rect l="l" t="t" r="r" b="b"/>
            <a:pathLst>
              <a:path w="7484109" h="3046629">
                <a:moveTo>
                  <a:pt x="0" y="0"/>
                </a:moveTo>
                <a:lnTo>
                  <a:pt x="7484110" y="0"/>
                </a:lnTo>
                <a:lnTo>
                  <a:pt x="7484110" y="3046628"/>
                </a:lnTo>
                <a:lnTo>
                  <a:pt x="0" y="3046628"/>
                </a:lnTo>
                <a:lnTo>
                  <a:pt x="0" y="0"/>
                </a:lnTo>
                <a:close/>
              </a:path>
            </a:pathLst>
          </a:custGeom>
          <a:blipFill>
            <a:blip r:embed="rId4"/>
            <a:stretch>
              <a:fillRect/>
            </a:stretch>
          </a:blipFill>
        </p:spPr>
      </p:sp>
      <p:sp>
        <p:nvSpPr>
          <p:cNvPr id="5" name="TextBox 5"/>
          <p:cNvSpPr txBox="1"/>
          <p:nvPr/>
        </p:nvSpPr>
        <p:spPr>
          <a:xfrm>
            <a:off x="4849300" y="933450"/>
            <a:ext cx="10386586"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Xử</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 lý giá trị rỗng ko hợp </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6" name="TextBox 6"/>
          <p:cNvSpPr txBox="1"/>
          <p:nvPr/>
        </p:nvSpPr>
        <p:spPr>
          <a:xfrm>
            <a:off x="4849300" y="3053797"/>
            <a:ext cx="10386586" cy="424815"/>
          </a:xfrm>
          <a:prstGeom prst="rect">
            <a:avLst/>
          </a:prstGeom>
        </p:spPr>
        <p:txBody>
          <a:bodyPr lIns="0" tIns="0" rIns="0" bIns="0" rtlCol="0" anchor="t">
            <a:spAutoFit/>
          </a:bodyPr>
          <a:lstStyle/>
          <a:p>
            <a:pPr marL="518160" lvl="1" indent="-259080" algn="l">
              <a:lnSpc>
                <a:spcPts val="3360"/>
              </a:lnSpc>
              <a:spcBef>
                <a:spcPct val="0"/>
              </a:spcBef>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Kiểm tra có Null/Nan và ngoại lai cùng với biện pháp xử lý</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503402" y="2077286"/>
            <a:ext cx="16215526" cy="7181014"/>
          </a:xfrm>
          <a:prstGeom prst="rect">
            <a:avLst/>
          </a:prstGeom>
        </p:spPr>
        <p:txBody>
          <a:bodyPr lIns="0" tIns="0" rIns="0" bIns="0" rtlCol="0" anchor="t">
            <a:spAutoFit/>
          </a:bodyPr>
          <a:lstStyle/>
          <a:p>
            <a:pPr algn="ctr">
              <a:lnSpc>
                <a:spcPts val="6345"/>
              </a:lnSpc>
              <a:spcBef>
                <a:spcPct val="0"/>
              </a:spcBef>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Biến</a:t>
            </a: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 đổi dữ liệu (Data Transforms)</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Chuyển đổi dữ liệu danh mục (Ca</a:t>
            </a: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tegory) thành dữ liệu số (đã ổn không cần làm)</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Chuyển đổi dữ liệu danh mục (Category) thành dạng OneHot</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Chuẩn hóa dữ liệu</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marL="978535" lvl="1" indent="-489585" algn="just">
              <a:lnSpc>
                <a:spcPts val="6345"/>
              </a:lnSpc>
              <a:buAutoNum type="arabicPeriod"/>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Chia dữ liệu thực nghiệm</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a:p>
            <a:pPr algn="just">
              <a:lnSpc>
                <a:spcPts val="6345"/>
              </a:lnSpc>
              <a:spcBef>
                <a:spcPct val="0"/>
              </a:spcBef>
            </a:pPr>
          </a:p>
          <a:p>
            <a:pPr algn="just">
              <a:lnSpc>
                <a:spcPts val="6345"/>
              </a:lnSpc>
              <a:spcBef>
                <a:spcPct val="0"/>
              </a:spcBef>
            </a:p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849300" y="933450"/>
            <a:ext cx="10386586" cy="1633855"/>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Chu</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yển đổi dữ liệu danh mục (Category) thành dạng OneHot</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4849300" y="3053797"/>
            <a:ext cx="10386586" cy="545401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Một số thuật toán khi chuyển đổi cột dạng danh mục thành kiểu One</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Hot thì cho hiệu suất cao hơn. </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Bên cạnh đó, khi huấn luyện mô hình với dạng hàm mất mát CategoryEntropy thì cũng cần chuyển thuộc tính phân lớp sang dạng OneHot.</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Trong dataset Pima Indians Diabetes:</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1036320" lvl="2" indent="-34544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Tất cả các biến (Pregnancies, Glucose, BloodPressure, SkinThickness, Insulin, BMI, DiabetesPedigreeFunction, Age) đều là số thực hoặc số nguyên.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1036320" lvl="2" indent="-34544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Biến mục tiêu Outcome cũng là 0/1 (nhị phân).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1036320" lvl="2" indent="-34544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Không hề có biến dạng danh mục (categorical) như kiểu “Nam/Nữ”, “Có/Không” dạng chữ.</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0" lvl="0" indent="0" algn="l">
              <a:lnSpc>
                <a:spcPts val="3360"/>
              </a:lnSpc>
              <a:spcBef>
                <a:spcPct val="0"/>
              </a:spcBef>
            </a:p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849300" y="933450"/>
            <a:ext cx="10386586"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Chuẩ</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n hóa dữ liệu</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4849300" y="3053797"/>
            <a:ext cx="10386586" cy="252031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Chuẩn hóa các tính </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chất để đưa về cùng một miền trị</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1036320" lvl="2" indent="-34544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Min-Max Normalization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1036320" lvl="2" indent="-34544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Standard Normalization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Lưu ý:Quá trình chuẩn hóa có thể làm trong phần thực nghiệm thuật toán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0" lvl="0" indent="0" algn="l">
              <a:lnSpc>
                <a:spcPts val="3360"/>
              </a:lnSpc>
              <a:spcBef>
                <a:spcPct val="0"/>
              </a:spcBef>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D83A3A"/>
        </a:solidFill>
        <a:effectLst/>
      </p:bgPr>
    </p:bg>
    <p:spTree>
      <p:nvGrpSpPr>
        <p:cNvPr id="1" name=""/>
        <p:cNvGrpSpPr/>
        <p:nvPr/>
      </p:nvGrpSpPr>
      <p:grpSpPr>
        <a:xfrm>
          <a:off x="0" y="0"/>
          <a:ext cx="0" cy="0"/>
          <a:chOff x="0" y="0"/>
          <a:chExt cx="0" cy="0"/>
        </a:xfrm>
      </p:grpSpPr>
      <p:sp>
        <p:nvSpPr>
          <p:cNvPr id="2" name="Freeform 2"/>
          <p:cNvSpPr/>
          <p:nvPr/>
        </p:nvSpPr>
        <p:spPr>
          <a:xfrm rot="-5400000">
            <a:off x="-1184040" y="4247686"/>
            <a:ext cx="3583256" cy="1791628"/>
          </a:xfrm>
          <a:custGeom>
            <a:avLst/>
            <a:gdLst/>
            <a:ahLst/>
            <a:cxnLst/>
            <a:rect l="l" t="t" r="r" b="b"/>
            <a:pathLst>
              <a:path w="3583256" h="1791628">
                <a:moveTo>
                  <a:pt x="0" y="0"/>
                </a:moveTo>
                <a:lnTo>
                  <a:pt x="3583256" y="0"/>
                </a:lnTo>
                <a:lnTo>
                  <a:pt x="3583256" y="1791628"/>
                </a:lnTo>
                <a:lnTo>
                  <a:pt x="0" y="179162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624784" y="0"/>
            <a:ext cx="16634516" cy="10271814"/>
          </a:xfrm>
          <a:custGeom>
            <a:avLst/>
            <a:gdLst/>
            <a:ahLst/>
            <a:cxnLst/>
            <a:rect l="l" t="t" r="r" b="b"/>
            <a:pathLst>
              <a:path w="16634516" h="10271814">
                <a:moveTo>
                  <a:pt x="0" y="0"/>
                </a:moveTo>
                <a:lnTo>
                  <a:pt x="16634516" y="0"/>
                </a:lnTo>
                <a:lnTo>
                  <a:pt x="16634516" y="10271814"/>
                </a:lnTo>
                <a:lnTo>
                  <a:pt x="0" y="10271814"/>
                </a:lnTo>
                <a:lnTo>
                  <a:pt x="0" y="0"/>
                </a:lnTo>
                <a:close/>
              </a:path>
            </a:pathLst>
          </a:custGeom>
          <a:blipFill>
            <a:blip r:embed="rId3"/>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591862" y="3969941"/>
            <a:ext cx="4694235" cy="2347118"/>
          </a:xfrm>
          <a:custGeom>
            <a:avLst/>
            <a:gdLst/>
            <a:ahLst/>
            <a:cxnLst/>
            <a:rect l="l" t="t" r="r" b="b"/>
            <a:pathLst>
              <a:path w="4694235" h="2347118">
                <a:moveTo>
                  <a:pt x="0" y="0"/>
                </a:moveTo>
                <a:lnTo>
                  <a:pt x="4694235" y="0"/>
                </a:lnTo>
                <a:lnTo>
                  <a:pt x="4694235" y="2347118"/>
                </a:lnTo>
                <a:lnTo>
                  <a:pt x="0" y="234711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849300" y="933450"/>
            <a:ext cx="10386586" cy="805180"/>
          </a:xfrm>
          <a:prstGeom prst="rect">
            <a:avLst/>
          </a:prstGeom>
        </p:spPr>
        <p:txBody>
          <a:bodyPr lIns="0" tIns="0" rIns="0" bIns="0" rtlCol="0" anchor="t">
            <a:spAutoFit/>
          </a:bodyPr>
          <a:lstStyle/>
          <a:p>
            <a:pPr marL="0" lvl="0" indent="0" algn="l">
              <a:lnSpc>
                <a:spcPts val="6545"/>
              </a:lnSpc>
              <a:spcBef>
                <a:spcPct val="0"/>
              </a:spcBef>
            </a:pP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Chi</a:t>
            </a:r>
            <a:r>
              <a:rPr lang="en-US" sz="4675">
                <a:solidFill>
                  <a:srgbClr val="000000"/>
                </a:solidFill>
                <a:latin typeface="Josefin Sans" panose="00000500000000000000"/>
                <a:ea typeface="Josefin Sans" panose="00000500000000000000"/>
                <a:cs typeface="Josefin Sans" panose="00000500000000000000"/>
                <a:sym typeface="Josefin Sans" panose="00000500000000000000"/>
              </a:rPr>
              <a:t>a dữ liệu thực nghiệm</a:t>
            </a:r>
            <a:endParaRPr lang="en-US" sz="4675">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
        <p:nvSpPr>
          <p:cNvPr id="4" name="TextBox 4"/>
          <p:cNvSpPr txBox="1"/>
          <p:nvPr/>
        </p:nvSpPr>
        <p:spPr>
          <a:xfrm>
            <a:off x="4849300" y="3053797"/>
            <a:ext cx="10386586" cy="210121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Chuyển đổi dữ liệu</a:t>
            </a: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 sang dạng numpy với phần Input (X_data), Output (y_data)</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Chia dữ liệu thành tập train/test (tỷ lệ 70/30)</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518160" lvl="1" indent="-259080" algn="l">
              <a:lnSpc>
                <a:spcPts val="3360"/>
              </a:lnSpc>
              <a:buFont typeface="Arial" panose="020B0604020202020204"/>
              <a:buChar char="•"/>
            </a:pPr>
            <a:r>
              <a:rPr lang="en-US" sz="2400">
                <a:solidFill>
                  <a:srgbClr val="D83A3A"/>
                </a:solidFill>
                <a:latin typeface="Josefin Sans" panose="00000500000000000000"/>
                <a:ea typeface="Josefin Sans" panose="00000500000000000000"/>
                <a:cs typeface="Josefin Sans" panose="00000500000000000000"/>
                <a:sym typeface="Josefin Sans" panose="00000500000000000000"/>
              </a:rPr>
              <a:t>Lưu tất cả thông tin để chuẩn bị chạy thuật toán</a:t>
            </a:r>
            <a:endParaRPr lang="en-US" sz="2400">
              <a:solidFill>
                <a:srgbClr val="D83A3A"/>
              </a:solidFill>
              <a:latin typeface="Josefin Sans" panose="00000500000000000000"/>
              <a:ea typeface="Josefin Sans" panose="00000500000000000000"/>
              <a:cs typeface="Josefin Sans" panose="00000500000000000000"/>
              <a:sym typeface="Josefin Sans" panose="00000500000000000000"/>
            </a:endParaRPr>
          </a:p>
          <a:p>
            <a:pPr marL="0" lvl="0" indent="0" algn="l">
              <a:lnSpc>
                <a:spcPts val="3360"/>
              </a:lnSpc>
              <a:spcBef>
                <a:spcPct val="0"/>
              </a:spcBef>
            </a:p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239000" y="4762500"/>
            <a:ext cx="3574415" cy="807085"/>
          </a:xfrm>
          <a:prstGeom prst="rect">
            <a:avLst/>
          </a:prstGeom>
        </p:spPr>
        <p:txBody>
          <a:bodyPr wrap="square" lIns="0" tIns="0" rIns="0" bIns="0" rtlCol="0" anchor="t">
            <a:noAutofit/>
          </a:bodyPr>
          <a:lstStyle/>
          <a:p>
            <a:pPr algn="ctr">
              <a:lnSpc>
                <a:spcPts val="6345"/>
              </a:lnSpc>
              <a:spcBef>
                <a:spcPct val="0"/>
              </a:spcBef>
            </a:pPr>
            <a:r>
              <a:rPr lang="en-US" sz="4530">
                <a:solidFill>
                  <a:srgbClr val="000000"/>
                </a:solidFill>
                <a:latin typeface="Josefin Sans" panose="00000500000000000000"/>
                <a:ea typeface="Josefin Sans" panose="00000500000000000000"/>
                <a:cs typeface="Josefin Sans" panose="00000500000000000000"/>
                <a:sym typeface="Josefin Sans" panose="00000500000000000000"/>
              </a:rPr>
              <a:t>GOODBYE</a:t>
            </a:r>
            <a:endParaRPr lang="en-US" sz="4530">
              <a:solidFill>
                <a:srgbClr val="000000"/>
              </a:solidFill>
              <a:latin typeface="Josefin Sans" panose="00000500000000000000"/>
              <a:ea typeface="Josefin Sans" panose="00000500000000000000"/>
              <a:cs typeface="Josefin Sans" panose="00000500000000000000"/>
              <a:sym typeface="Josefin Sans"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4813</Words>
  <Application>WPS Presentation</Application>
  <PresentationFormat>On-screen Show (4:3)</PresentationFormat>
  <Paragraphs>160</Paragraphs>
  <Slides>30</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2" baseType="lpstr">
      <vt:lpstr>Arial</vt:lpstr>
      <vt:lpstr>SimSun</vt:lpstr>
      <vt:lpstr>Wingdings</vt:lpstr>
      <vt:lpstr>Josefin Sans</vt:lpstr>
      <vt:lpstr>Josefin Sans Semi-Bold</vt:lpstr>
      <vt:lpstr>Arial</vt:lpstr>
      <vt:lpstr>Josefin Sans Bold</vt:lpstr>
      <vt:lpstr>Microsoft YaHei</vt:lpstr>
      <vt:lpstr>Arial Unicode MS</vt:lpstr>
      <vt:lpstr>Calibri</vt:lpstr>
      <vt:lpstr>Office Theme</vt:lpstr>
      <vt:lpstr>Excel.Sheet.12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phân tích tiểu đường</dc:title>
  <dc:creator/>
  <cp:lastModifiedBy>Chí Vỹ Trần</cp:lastModifiedBy>
  <cp:revision>2</cp:revision>
  <dcterms:created xsi:type="dcterms:W3CDTF">2006-08-16T00:00:00Z</dcterms:created>
  <dcterms:modified xsi:type="dcterms:W3CDTF">2025-09-28T14:57:52Z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0F90513E99B143FB88C5A94C9218CC9F_12</vt:lpwstr>
  </property>
  <property fmtid="{D5CDD505-2E9C-101B-9397-08002B2CF9AE}" pid="3" name="KSOProductBuildVer">
    <vt:lpwstr>1033-12.2.0.22549</vt:lpwstr>
  </property>
</Properties>
</file>